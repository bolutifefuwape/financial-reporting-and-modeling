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840480"/>
            <a:ext cx="3657600" cy="3657600"/>
          </a:xfrm>
          <a:prstGeom prst="ellipse">
            <a:avLst/>
          </a:prstGeom>
          <a:solidFill>
            <a:srgbClr val="242C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212080"/>
            <a:ext cx="914400" cy="914400"/>
          </a:xfrm>
          <a:prstGeom prst="ellipse">
            <a:avLst/>
          </a:prstGeom>
          <a:solidFill>
            <a:srgbClr val="D99E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EFFICIENCY &amp; DIGITAL TRANSFORMATION 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Loan Application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GIDI Bank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4434840"/>
            <a:ext cx="2103120" cy="0"/>
          </a:xfrm>
          <a:prstGeom prst="line">
            <a:avLst/>
          </a:prstGeom>
          <a:noFill/>
          <a:ln w="25400">
            <a:solidFill>
              <a:srgbClr val="D99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Bolutife Fuwape  |  Operations Management &amp; Process Improvement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(Finance &amp; Strategy), Ivey Business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&amp; Approach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Operations Manager leading this initiative, my focus went beyond digitizing a form — it meant redesigning the end-to-end loan approval process, removing handoffs and manual bottlenecks, and building a measurement framework leadership could act 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6309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the current-state to future-state process redesign, end to end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requirements across IT, Risk &amp; Compliance, and Customer Experience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KPIs and built the measurement plan leadership uses to track delivery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business case — cost-benefit, ROI, and phased roadmap — to secure funding and sequence the rollout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78040" y="1463040"/>
            <a:ext cx="4480560" cy="4434840"/>
          </a:xfrm>
          <a:prstGeom prst="roundRect">
            <a:avLst>
              <a:gd name="adj" fmla="val 1649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21031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498080" y="31546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or less, target loan approval turnaround — down from 15+ days today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4114800"/>
            <a:ext cx="38404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4251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49808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 months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18320" y="4251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41832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cost-per-loan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12 months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approvals routinely take 15+ days, well past what digital-first competitors offer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experience growing dissatisfaction and a lack of visibility into application status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handoffs across departments create operational bottlenecks at every stage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processing drives up cost-per-loan and administrative overhead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migrating to competitors with faster, fully digital lending platforms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269480" y="150876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0" y="20116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9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589520" y="3063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— current average approval turnaround time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589520" y="3977640"/>
            <a:ext cx="3749040" cy="0"/>
          </a:xfrm>
          <a:prstGeom prst="line">
            <a:avLst/>
          </a:prstGeom>
          <a:noFill/>
          <a:ln w="12700">
            <a:solidFill>
              <a:srgbClr val="3B44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41605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added to turnaround time gives a digital-first competitor one more day to win the customer instead.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Targets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21214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Customer Approvals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24505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turnaround from 15+ days to under 48 hours by Q4 2026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4630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54456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44568" y="21214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Satisfaction &amp; Retention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44568" y="24505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an NPS score of 70+ within 6 months of launch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38160" y="14630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39328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39328" y="21214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Paperwork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39328" y="24505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100% of paper intake; full migration to digital portal by Q3 2026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2918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9808" y="39502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Workload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49808" y="42793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manual effort 60% and cost-per-loan 30% within 12 months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43400" y="32918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44568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454456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544568" y="39502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Customer Migration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544568" y="42793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customer attrition to competitors by 25% within 9 months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138160" y="32918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39328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29"/>
          <p:cNvSpPr/>
          <p:nvPr/>
        </p:nvSpPr>
        <p:spPr>
          <a:xfrm>
            <a:off x="833932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339328" y="39502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339328" y="42793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applicants self-serve status; cut inbound enquiries by 40%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Measurement Plan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on the previous slide is tied to a specific way of measuring it, an owner, and a review cadence — so progress is monitored, not assumed.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2976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291840"/>
                <a:gridCol w="2194560"/>
                <a:gridCol w="1033272"/>
              </a:tblGrid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Turnaround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48 hours by Q4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timestamps: submission to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Promoter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70+ within 6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Post-decision customer survey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Intake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by Q3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applications via digital portal vs.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Effort &amp; Cost-per-Loan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-60% effort / -30% cost in 12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Time-and-motion study + finance cost allocation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Attrition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-25% within 9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/ churn reporting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Retention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Adoption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self-serve; -40% inbound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analytics + call center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Contact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Analysis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38912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834640"/>
                <a:gridCol w="4142232"/>
              </a:tblGrid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Interest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Concern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for loans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approvals and lack of transparency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portal with real-time status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Officers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administrative burden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review workspace and hands-on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Inefficient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automation and direct process ownership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oversight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and compliance risks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automated checks plus full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rollout with a dedicated integration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retention and profitability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KPI and ROI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 Matrix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160520"/>
        </p:xfrm>
        <a:graphic>
          <a:graphicData uri="http://schemas.openxmlformats.org/drawingml/2006/table">
            <a:tbl>
              <a:tblPr/>
              <a:tblGrid>
                <a:gridCol w="2606040"/>
                <a:gridCol w="1413662"/>
                <a:gridCol w="1413662"/>
                <a:gridCol w="1413662"/>
                <a:gridCol w="1413662"/>
                <a:gridCol w="1413662"/>
                <a:gridCol w="1413662"/>
              </a:tblGrid>
              <a:tr h="5200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Officers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Compl.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&amp; Platform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Scoring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Acceptance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 &amp;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Post-Launch KPI 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15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     A = Accountable      C = Consulted      I = Informed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Analysis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23160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70632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70632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43784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Credit Check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45152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92624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92624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65776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67144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214616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214616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87768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089136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436608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436608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509760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1672" cy="2560320"/>
        </p:xfrm>
        <a:graphic>
          <a:graphicData uri="http://schemas.openxmlformats.org/drawingml/2006/table">
            <a:tbl>
              <a:tblPr/>
              <a:tblGrid>
                <a:gridCol w="5029200"/>
                <a:gridCol w="60624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Paper-based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processing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data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errors and inefficiency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approval stages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bottlenecks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productivity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frustration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real-time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process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State Analysis (TO-BE)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(Self-Service)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23160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70632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(Self-Service)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70632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43784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Document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45152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92624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(Automated)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92624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65776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Credit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&amp; Scoring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67144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214616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 + System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214616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87768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Review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089136" y="19705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436608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(Automated)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436608" y="17830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509760" y="178308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1672" cy="2560320"/>
        </p:xfrm>
        <a:graphic>
          <a:graphicData uri="http://schemas.openxmlformats.org/drawingml/2006/table">
            <a:tbl>
              <a:tblPr/>
              <a:tblGrid>
                <a:gridCol w="5029200"/>
                <a:gridCol w="60624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loan application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and easier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document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paperwork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credit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risk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manual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tracking &amp; 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transparency and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E-signature &amp; fraud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approvals with improved risk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EEF3F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37744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applications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communication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workflows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15087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306824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6824" y="21488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35424" y="237744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verification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workflows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65008" y="15087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D99E2B"/>
          </a:solidFill>
          <a:ln/>
        </p:spPr>
      </p:sp>
      <p:sp>
        <p:nvSpPr>
          <p:cNvPr id="14" name="Text 11"/>
          <p:cNvSpPr/>
          <p:nvPr/>
        </p:nvSpPr>
        <p:spPr>
          <a:xfrm>
            <a:off x="8065008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65008" y="21488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93608" y="237744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digital platform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automation tools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notification system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centralized system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customer dashboard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6675120" cy="4434840"/>
          </a:xfrm>
          <a:prstGeom prst="roundRect">
            <a:avLst>
              <a:gd name="adj" fmla="val 14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Features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loan application portal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document upload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&amp; status notifications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functionality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Process Improvement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credit verification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review process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generation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application dashboard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34072" y="1463040"/>
            <a:ext cx="4206240" cy="4434840"/>
          </a:xfrm>
          <a:prstGeom prst="roundRect">
            <a:avLst>
              <a:gd name="adj" fmla="val 15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54112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54112" y="214884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 replacement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 app design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loan processing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lending decisions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or blockchain integration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MoSCoW Priority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572000"/>
        </p:xfrm>
        <a:graphic>
          <a:graphicData uri="http://schemas.openxmlformats.org/drawingml/2006/table">
            <a:tbl>
              <a:tblPr/>
              <a:tblGrid>
                <a:gridCol w="1828800"/>
                <a:gridCol w="9262872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can submit a complete loan application online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can upload supporting documents digitally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validates required application fields before submission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maintains a complete audit trail of every application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officers can review applications through a digital workspace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automates credit scoring using bureau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can track application status in real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notifications are sent at each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E-signature capture is available for final approval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fraud-detection flagging beyond baseline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dashboard views for loan officers and managers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(this phase)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autonomous lending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application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D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/ disconnected application drafting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297680"/>
        </p:xfrm>
        <a:graphic>
          <a:graphicData uri="http://schemas.openxmlformats.org/drawingml/2006/table">
            <a:tbl>
              <a:tblPr/>
              <a:tblGrid>
                <a:gridCol w="2194560"/>
                <a:gridCol w="3776472"/>
                <a:gridCol w="5120640"/>
              </a:tblGrid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customer data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against breaches and regulatory penalties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processing and response times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the under-48-hour turnaround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to handle increasing application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Sustains growth without re-architecture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 adherence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fines and licensing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platform accessibility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digital-first customer expectations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User-friendly customer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self-service adoption and NPS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Technical Architecture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2011680" y="1783080"/>
            <a:ext cx="4069080" cy="1828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H="1">
            <a:off x="6080760" y="1783080"/>
            <a:ext cx="4069080" cy="1828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3611880"/>
            <a:ext cx="4480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80760" y="3611880"/>
            <a:ext cx="4480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2011680" y="3611880"/>
            <a:ext cx="4069080" cy="1828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80760" y="3611880"/>
            <a:ext cx="4069080" cy="18288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3487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2688" y="142189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32688" y="18059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disbursement data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961120" y="13487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070848" y="142189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API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70848" y="18059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credit scoring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1775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8368" y="325069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8368" y="36347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&amp; retrieval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509760" y="31775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619488" y="325069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Provider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619488" y="36347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binding approvals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22960" y="50063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32688" y="507949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Gateway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32688" y="54635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alerts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61120" y="500634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070848" y="5079492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070848" y="54635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fraud checks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846320" y="31775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937760" y="31775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Platform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owns integration delivery — each connector is an API or service contract scoped during Phase 1.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6093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186537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063240" y="1604772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265176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requirements &amp; MoSCoW prioritization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integration vendors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portal UX &amp; workflow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0128" y="155448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D99E2B"/>
          </a:solidFill>
          <a:ln/>
        </p:spPr>
      </p:sp>
      <p:sp>
        <p:nvSpPr>
          <p:cNvPr id="12" name="Text 9"/>
          <p:cNvSpPr/>
          <p:nvPr/>
        </p:nvSpPr>
        <p:spPr>
          <a:xfrm>
            <a:off x="3419856" y="16093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19856" y="186537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Integrate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824728" y="1604772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310128" y="246888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93008" y="265176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online application portal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credit bureau, document mgmt, e-signature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QA &amp; system testing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71616" y="155448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181344" y="16093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81344" y="186537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Migrate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586216" y="1604772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071616" y="246888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254496" y="265176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rollout with select branches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100% paper-to-digital migration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&amp; change management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33104" y="1554480"/>
            <a:ext cx="2514600" cy="685800"/>
          </a:xfrm>
          <a:prstGeom prst="roundRect">
            <a:avLst>
              <a:gd name="adj" fmla="val 8000"/>
            </a:avLst>
          </a:prstGeom>
          <a:solidFill>
            <a:srgbClr val="D99E2B"/>
          </a:solidFill>
          <a:ln/>
        </p:spPr>
      </p:sp>
      <p:sp>
        <p:nvSpPr>
          <p:cNvPr id="24" name="Text 21"/>
          <p:cNvSpPr/>
          <p:nvPr/>
        </p:nvSpPr>
        <p:spPr>
          <a:xfrm>
            <a:off x="8942832" y="160934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942832" y="186537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Optimize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833104" y="246888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015984" y="265176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across all branches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under-48-hour turnaround target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NPS &amp; attrition tracking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Cost-Benefit Analysis &amp; ROI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for case-study purposes, sized to match the scope of this initiative.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49240" cy="2103120"/>
        </p:xfrm>
        <a:graphic>
          <a:graphicData uri="http://schemas.openxmlformats.org/drawingml/2006/table">
            <a:tbl>
              <a:tblPr/>
              <a:tblGrid>
                <a:gridCol w="365760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development &amp; licensing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integration (bureau, e-sign, docs)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training &amp; change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Investment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63040"/>
          <a:ext cx="5513832" cy="2468880"/>
        </p:xfrm>
        <a:graphic>
          <a:graphicData uri="http://schemas.openxmlformats.org/drawingml/2006/table">
            <a:tbl>
              <a:tblPr/>
              <a:tblGrid>
                <a:gridCol w="384048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Benefit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manual processing labor (-60%)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cost-per-loan (-30%)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revenue from reduced attrition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hosting &amp; 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Annual Benefit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20624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914400" y="43708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9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</a:t>
            </a:r>
            <a:endParaRPr lang="en-US" sz="5600" dirty="0"/>
          </a:p>
        </p:txBody>
      </p:sp>
      <p:sp>
        <p:nvSpPr>
          <p:cNvPr id="10" name="Text 5"/>
          <p:cNvSpPr/>
          <p:nvPr/>
        </p:nvSpPr>
        <p:spPr>
          <a:xfrm>
            <a:off x="91440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3017520" y="4389120"/>
            <a:ext cx="0" cy="1280160"/>
          </a:xfrm>
          <a:prstGeom prst="line">
            <a:avLst/>
          </a:prstGeom>
          <a:noFill/>
          <a:ln w="12700">
            <a:solidFill>
              <a:srgbClr val="3B447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291840" y="44805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payback period for the digital loan application platform, based on net annual benefit against total one-time investment.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&amp; Acceptance Criteria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389120"/>
        </p:xfrm>
        <a:graphic>
          <a:graphicData uri="http://schemas.openxmlformats.org/drawingml/2006/table">
            <a:tbl>
              <a:tblPr/>
              <a:tblGrid>
                <a:gridCol w="2468880"/>
                <a:gridCol w="5879592"/>
                <a:gridCol w="2743200"/>
              </a:tblGrid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Application Portal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completes a full application without branch contact, across 3 device 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+ cross-browser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Document Upload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PDF/JPG/PNG files up to 10MB upload successfully in 99%+ of attempts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and functional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Credit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returned within 30 seconds for 95% of applications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Status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updates reflect within 5 minutes of any stage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of application actions logged with timestamp and user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audit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E-Signature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documents pass legal and compliance sign-off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and legal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Mitigation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20624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4965192"/>
                <a:gridCol w="2560320"/>
              </a:tblGrid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 concerns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encryption and cybersecurity measures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Risk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resistance to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structured training and change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Manager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challenges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phased implementation with vendor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 risks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compliance testing and sign-off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adoption barriers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 intuitive, guided user experience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51663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291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Constraints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440680" cy="4389120"/>
          </a:xfrm>
          <a:prstGeom prst="roundRect">
            <a:avLst>
              <a:gd name="adj" fmla="val 145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 can expose APIs for account and loan data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budget of ~$370K is approved for Phases 1-4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partner supports real-time API integration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IT resourcing is available without delaying other priorities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9632" y="1508760"/>
            <a:ext cx="5440680" cy="4389120"/>
          </a:xfrm>
          <a:prstGeom prst="roundRect">
            <a:avLst>
              <a:gd name="adj" fmla="val 145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19672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9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19672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paper elimination requires regulatory approval before go-live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core banking system may limit real-time integration speed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staff training must work around existing operating hours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must comply with existing data residency and privacy regulations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GIDI Bank — Digital Loan Application Transformation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242C6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645920"/>
            <a:ext cx="3657600" cy="3657600"/>
          </a:xfrm>
          <a:prstGeom prst="ellipse">
            <a:avLst/>
          </a:prstGeom>
          <a:solidFill>
            <a:srgbClr val="26307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Loan Application Transformation — GIDI Bank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48 HRS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Turnaround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2468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093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Cost-per-Loan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4114800"/>
            <a:ext cx="3657600" cy="0"/>
          </a:xfrm>
          <a:prstGeom prst="line">
            <a:avLst/>
          </a:prstGeom>
          <a:noFill/>
          <a:ln w="25400">
            <a:solidFill>
              <a:srgbClr val="D99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Bolutife Fuwape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Management &amp; Process Improvement  |  MBA, Ivey Business School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linkedin.com/in/bolutife-fuwape   |   github.com/bolutifefuwape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Loan Application Transformation — GIDI Bank</dc:title>
  <dc:subject>PptxGenJS Presentation</dc:subject>
  <dc:creator>Bolutife Fuwape</dc:creator>
  <cp:lastModifiedBy>Bolutife Fuwape</cp:lastModifiedBy>
  <cp:revision>1</cp:revision>
  <dcterms:created xsi:type="dcterms:W3CDTF">2026-06-18T00:49:50Z</dcterms:created>
  <dcterms:modified xsi:type="dcterms:W3CDTF">2026-06-18T00:49:50Z</dcterms:modified>
</cp:coreProperties>
</file>